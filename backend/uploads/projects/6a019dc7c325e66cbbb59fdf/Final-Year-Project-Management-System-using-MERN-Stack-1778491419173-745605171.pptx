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4630400" cy="8229600"/>
  <p:notesSz cx="8229600" cy="14630400"/>
  <p:embeddedFontLst>
    <p:embeddedFont>
      <p:font typeface="Franklin Gothic Medium" panose="020B0603020102020204" pitchFamily="34" charset="0"/>
      <p:regular r:id="rId12"/>
      <p:italic r:id="rId13"/>
    </p:embeddedFont>
    <p:embeddedFont>
      <p:font typeface="Lato" panose="020F0502020204030203" pitchFamily="34" charset="0"/>
      <p:regular r:id="rId14"/>
      <p:bold r:id="rId15"/>
    </p:embeddedFont>
    <p:embeddedFont>
      <p:font typeface="Lato Light" panose="020F0502020204030203" pitchFamily="3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7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1356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97756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ea typeface="Lato Bold" pitchFamily="34" charset="-122"/>
                <a:cs typeface="Lato Bold" pitchFamily="34" charset="-120"/>
              </a:rPr>
              <a:t>Final Year Project Management System using MERN Stack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86894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b="1" dirty="0">
              <a:solidFill>
                <a:srgbClr val="4A4A45"/>
              </a:solidFill>
              <a:latin typeface="Lato" pitchFamily="34" charset="0"/>
              <a:ea typeface="Lato" pitchFamily="34" charset="-122"/>
              <a:cs typeface="Lato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r>
              <a:rPr lang="en-US" b="1" dirty="0">
                <a:solidFill>
                  <a:srgbClr val="4A4A45"/>
                </a:solidFill>
                <a:latin typeface="Franklin Gothic Medium" panose="020B0603020102020204" pitchFamily="34" charset="0"/>
                <a:ea typeface="Lato" pitchFamily="34" charset="-122"/>
                <a:cs typeface="Lato" pitchFamily="34" charset="-120"/>
              </a:rPr>
              <a:t>Mukul Yadav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b="1" dirty="0">
                <a:solidFill>
                  <a:srgbClr val="4A4A45"/>
                </a:solidFill>
                <a:latin typeface="Franklin Gothic Medium" panose="020B0603020102020204" pitchFamily="34" charset="0"/>
                <a:ea typeface="Lato" pitchFamily="34" charset="-122"/>
                <a:cs typeface="Lato" pitchFamily="34" charset="-120"/>
              </a:rPr>
              <a:t> Manipal University , Jaipur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b="1" dirty="0">
                <a:solidFill>
                  <a:srgbClr val="4A4A45"/>
                </a:solidFill>
                <a:latin typeface="Franklin Gothic Medium" panose="020B0603020102020204" pitchFamily="34" charset="0"/>
                <a:ea typeface="Lato" pitchFamily="34" charset="-122"/>
                <a:cs typeface="Lato" pitchFamily="34" charset="-120"/>
              </a:rPr>
              <a:t> Major Project</a:t>
            </a:r>
            <a:endParaRPr lang="en-US" b="1" dirty="0"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2882"/>
            <a:ext cx="877121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Introduction &amp; Problem Statement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28637"/>
            <a:ext cx="599098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What is a Project Management System?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080742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digital platform that streamlines project tracking, collaboration, and progress monitoring for academic or professional projects.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2428637"/>
            <a:ext cx="446412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Why Digital Tracking Matters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599521" y="308074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Manual project handling creates bottlenecks, lost documents, and communication gaps between students and faculty.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4628674"/>
            <a:ext cx="4196358" cy="2448044"/>
          </a:xfrm>
          <a:prstGeom prst="roundRect">
            <a:avLst>
              <a:gd name="adj" fmla="val 1390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084" y="4885968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Manual Project Handling Issues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084" y="5730716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Paper-based systems lead to lost documents, version conflicts, and tracking difficulties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216962" y="4628674"/>
            <a:ext cx="4196358" cy="2448044"/>
          </a:xfrm>
          <a:prstGeom prst="roundRect">
            <a:avLst>
              <a:gd name="adj" fmla="val 1390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74256" y="4885968"/>
            <a:ext cx="34094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Lack of Centralized System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74256" y="5376386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Information scattered across emails, documents, and physical files without unified access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4628674"/>
            <a:ext cx="4196358" cy="2448044"/>
          </a:xfrm>
          <a:prstGeom prst="roundRect">
            <a:avLst>
              <a:gd name="adj" fmla="val 1390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97427" y="4885968"/>
            <a:ext cx="31064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Communication Barriers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897427" y="5376386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Difficulty in real-time updates and feedback between students and teachers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6458" y="1018103"/>
            <a:ext cx="4841677" cy="555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Motivation &amp; Objectives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1186458" y="1851422"/>
            <a:ext cx="3993118" cy="2148364"/>
          </a:xfrm>
          <a:prstGeom prst="roundRect">
            <a:avLst>
              <a:gd name="adj" fmla="val 1240"/>
            </a:avLst>
          </a:prstGeom>
          <a:solidFill>
            <a:srgbClr val="E5DFD2"/>
          </a:solidFill>
          <a:ln/>
        </p:spPr>
      </p:sp>
      <p:sp>
        <p:nvSpPr>
          <p:cNvPr id="4" name="Shape 2"/>
          <p:cNvSpPr/>
          <p:nvPr/>
        </p:nvSpPr>
        <p:spPr>
          <a:xfrm>
            <a:off x="1364099" y="2029063"/>
            <a:ext cx="532924" cy="532924"/>
          </a:xfrm>
          <a:prstGeom prst="roundRect">
            <a:avLst>
              <a:gd name="adj" fmla="val 17156453"/>
            </a:avLst>
          </a:prstGeom>
          <a:solidFill>
            <a:srgbClr val="28282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10665" y="2175510"/>
            <a:ext cx="239792" cy="239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64099" y="2701052"/>
            <a:ext cx="3312319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Automation in Academic Projects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364099" y="3062049"/>
            <a:ext cx="3637836" cy="760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Eliminate manual paperwork and streamline project submission, review, and approval processes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318641" y="1851422"/>
            <a:ext cx="3993118" cy="2148364"/>
          </a:xfrm>
          <a:prstGeom prst="roundRect">
            <a:avLst>
              <a:gd name="adj" fmla="val 1240"/>
            </a:avLst>
          </a:prstGeom>
          <a:solidFill>
            <a:srgbClr val="E5DFD2"/>
          </a:solidFill>
          <a:ln/>
        </p:spPr>
      </p:sp>
      <p:sp>
        <p:nvSpPr>
          <p:cNvPr id="9" name="Shape 6"/>
          <p:cNvSpPr/>
          <p:nvPr/>
        </p:nvSpPr>
        <p:spPr>
          <a:xfrm>
            <a:off x="5496282" y="2029063"/>
            <a:ext cx="532924" cy="532924"/>
          </a:xfrm>
          <a:prstGeom prst="roundRect">
            <a:avLst>
              <a:gd name="adj" fmla="val 17156453"/>
            </a:avLst>
          </a:prstGeom>
          <a:solidFill>
            <a:srgbClr val="282824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42848" y="2175510"/>
            <a:ext cx="239792" cy="2397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96282" y="2701052"/>
            <a:ext cx="2433995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Transparency &amp; Tracking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496282" y="3062049"/>
            <a:ext cx="3637836" cy="50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Real-time visibility into project status, milestones, and feedback for all stakeholders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9450824" y="1851422"/>
            <a:ext cx="3993118" cy="2148364"/>
          </a:xfrm>
          <a:prstGeom prst="roundRect">
            <a:avLst>
              <a:gd name="adj" fmla="val 1240"/>
            </a:avLst>
          </a:prstGeom>
          <a:solidFill>
            <a:srgbClr val="E5DFD2"/>
          </a:solidFill>
          <a:ln/>
        </p:spPr>
      </p:sp>
      <p:sp>
        <p:nvSpPr>
          <p:cNvPr id="14" name="Shape 10"/>
          <p:cNvSpPr/>
          <p:nvPr/>
        </p:nvSpPr>
        <p:spPr>
          <a:xfrm>
            <a:off x="9628465" y="2029063"/>
            <a:ext cx="532924" cy="532924"/>
          </a:xfrm>
          <a:prstGeom prst="roundRect">
            <a:avLst>
              <a:gd name="adj" fmla="val 17156453"/>
            </a:avLst>
          </a:prstGeom>
          <a:solidFill>
            <a:srgbClr val="282824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75031" y="2175510"/>
            <a:ext cx="239792" cy="2397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28465" y="2701052"/>
            <a:ext cx="2220516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Reduce Errors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9628465" y="3062049"/>
            <a:ext cx="3637836" cy="506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Minimize human errors through structured workflows and automated notifications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186458" y="4208383"/>
            <a:ext cx="2664619" cy="3330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Project Objectives</a:t>
            </a:r>
            <a:endParaRPr lang="en-US" sz="2050" dirty="0"/>
          </a:p>
        </p:txBody>
      </p:sp>
      <p:sp>
        <p:nvSpPr>
          <p:cNvPr id="19" name="Text 14"/>
          <p:cNvSpPr/>
          <p:nvPr/>
        </p:nvSpPr>
        <p:spPr>
          <a:xfrm>
            <a:off x="1186458" y="4749998"/>
            <a:ext cx="177641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01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1186458" y="5029081"/>
            <a:ext cx="6059210" cy="2286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21" name="Text 16"/>
          <p:cNvSpPr/>
          <p:nvPr/>
        </p:nvSpPr>
        <p:spPr>
          <a:xfrm>
            <a:off x="1186458" y="5163622"/>
            <a:ext cx="2220516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Centralized System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1186458" y="5524619"/>
            <a:ext cx="6059210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Single platform for all project-related activities and documentation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7384733" y="4749998"/>
            <a:ext cx="177641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02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7384733" y="5029081"/>
            <a:ext cx="6059210" cy="2286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25" name="Text 20"/>
          <p:cNvSpPr/>
          <p:nvPr/>
        </p:nvSpPr>
        <p:spPr>
          <a:xfrm>
            <a:off x="7384733" y="5163622"/>
            <a:ext cx="2220516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Role-Based Access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7384733" y="5524619"/>
            <a:ext cx="6059210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Secure dashboards for Admin, Teacher, and Student users</a:t>
            </a:r>
            <a:endParaRPr lang="en-US" sz="1350" dirty="0"/>
          </a:p>
        </p:txBody>
      </p:sp>
      <p:sp>
        <p:nvSpPr>
          <p:cNvPr id="27" name="Text 22"/>
          <p:cNvSpPr/>
          <p:nvPr/>
        </p:nvSpPr>
        <p:spPr>
          <a:xfrm>
            <a:off x="1186458" y="6050280"/>
            <a:ext cx="177641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03</a:t>
            </a:r>
            <a:endParaRPr lang="en-US" sz="1350" dirty="0"/>
          </a:p>
        </p:txBody>
      </p:sp>
      <p:sp>
        <p:nvSpPr>
          <p:cNvPr id="28" name="Shape 23"/>
          <p:cNvSpPr/>
          <p:nvPr/>
        </p:nvSpPr>
        <p:spPr>
          <a:xfrm>
            <a:off x="1186458" y="6329363"/>
            <a:ext cx="6059210" cy="2286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29" name="Text 24"/>
          <p:cNvSpPr/>
          <p:nvPr/>
        </p:nvSpPr>
        <p:spPr>
          <a:xfrm>
            <a:off x="1186458" y="6463903"/>
            <a:ext cx="2220516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Real-Time Updates</a:t>
            </a:r>
            <a:endParaRPr lang="en-US" sz="1700" dirty="0"/>
          </a:p>
        </p:txBody>
      </p:sp>
      <p:sp>
        <p:nvSpPr>
          <p:cNvPr id="30" name="Text 25"/>
          <p:cNvSpPr/>
          <p:nvPr/>
        </p:nvSpPr>
        <p:spPr>
          <a:xfrm>
            <a:off x="1186458" y="6824901"/>
            <a:ext cx="6059210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Instant notifications and progress tracking across all levels</a:t>
            </a:r>
            <a:endParaRPr lang="en-US" sz="1350" dirty="0"/>
          </a:p>
        </p:txBody>
      </p:sp>
      <p:sp>
        <p:nvSpPr>
          <p:cNvPr id="31" name="Text 26"/>
          <p:cNvSpPr/>
          <p:nvPr/>
        </p:nvSpPr>
        <p:spPr>
          <a:xfrm>
            <a:off x="7384733" y="6050280"/>
            <a:ext cx="177641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04</a:t>
            </a:r>
            <a:endParaRPr lang="en-US" sz="1350" dirty="0"/>
          </a:p>
        </p:txBody>
      </p:sp>
      <p:sp>
        <p:nvSpPr>
          <p:cNvPr id="32" name="Shape 27"/>
          <p:cNvSpPr/>
          <p:nvPr/>
        </p:nvSpPr>
        <p:spPr>
          <a:xfrm>
            <a:off x="7384733" y="6329363"/>
            <a:ext cx="6059210" cy="2286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33" name="Text 28"/>
          <p:cNvSpPr/>
          <p:nvPr/>
        </p:nvSpPr>
        <p:spPr>
          <a:xfrm>
            <a:off x="7384733" y="6463903"/>
            <a:ext cx="2228969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Secure Authentication</a:t>
            </a:r>
            <a:endParaRPr lang="en-US" sz="1700" dirty="0"/>
          </a:p>
        </p:txBody>
      </p:sp>
      <p:sp>
        <p:nvSpPr>
          <p:cNvPr id="34" name="Text 29"/>
          <p:cNvSpPr/>
          <p:nvPr/>
        </p:nvSpPr>
        <p:spPr>
          <a:xfrm>
            <a:off x="7384733" y="6824901"/>
            <a:ext cx="6059210" cy="253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JWT-based authorization ensuring data protection and privacy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5920" y="706398"/>
            <a:ext cx="4970978" cy="621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Technologies Used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95920" y="1676281"/>
            <a:ext cx="6532126" cy="1882259"/>
          </a:xfrm>
          <a:prstGeom prst="roundRect">
            <a:avLst>
              <a:gd name="adj" fmla="val 1585"/>
            </a:avLst>
          </a:prstGeom>
          <a:solidFill>
            <a:srgbClr val="E5DFD2"/>
          </a:solidFill>
          <a:ln/>
        </p:spPr>
      </p:sp>
      <p:sp>
        <p:nvSpPr>
          <p:cNvPr id="4" name="Shape 2"/>
          <p:cNvSpPr/>
          <p:nvPr/>
        </p:nvSpPr>
        <p:spPr>
          <a:xfrm>
            <a:off x="894755" y="1875115"/>
            <a:ext cx="596503" cy="596503"/>
          </a:xfrm>
          <a:prstGeom prst="roundRect">
            <a:avLst>
              <a:gd name="adj" fmla="val 15327812"/>
            </a:avLst>
          </a:prstGeom>
          <a:solidFill>
            <a:srgbClr val="28282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8823" y="2039183"/>
            <a:ext cx="268367" cy="2683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4755" y="2645926"/>
            <a:ext cx="2485430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MongoDB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894755" y="3061216"/>
            <a:ext cx="6134457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NoSQL database for flexible, scalable data storage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402354" y="1676281"/>
            <a:ext cx="6532126" cy="1882259"/>
          </a:xfrm>
          <a:prstGeom prst="roundRect">
            <a:avLst>
              <a:gd name="adj" fmla="val 1585"/>
            </a:avLst>
          </a:prstGeom>
          <a:solidFill>
            <a:srgbClr val="E5DFD2"/>
          </a:solidFill>
          <a:ln/>
        </p:spPr>
      </p:sp>
      <p:sp>
        <p:nvSpPr>
          <p:cNvPr id="9" name="Shape 6"/>
          <p:cNvSpPr/>
          <p:nvPr/>
        </p:nvSpPr>
        <p:spPr>
          <a:xfrm>
            <a:off x="7601188" y="1875115"/>
            <a:ext cx="596503" cy="596503"/>
          </a:xfrm>
          <a:prstGeom prst="roundRect">
            <a:avLst>
              <a:gd name="adj" fmla="val 15327812"/>
            </a:avLst>
          </a:prstGeom>
          <a:solidFill>
            <a:srgbClr val="282824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65256" y="2039183"/>
            <a:ext cx="268367" cy="2683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01188" y="2645926"/>
            <a:ext cx="2485430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Express.js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7601188" y="3061216"/>
            <a:ext cx="6134457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Backend framework for handling API routes and middleware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95920" y="3732848"/>
            <a:ext cx="6532126" cy="1882259"/>
          </a:xfrm>
          <a:prstGeom prst="roundRect">
            <a:avLst>
              <a:gd name="adj" fmla="val 1585"/>
            </a:avLst>
          </a:prstGeom>
          <a:solidFill>
            <a:srgbClr val="E5DFD2"/>
          </a:solidFill>
          <a:ln/>
        </p:spPr>
      </p:sp>
      <p:sp>
        <p:nvSpPr>
          <p:cNvPr id="14" name="Shape 10"/>
          <p:cNvSpPr/>
          <p:nvPr/>
        </p:nvSpPr>
        <p:spPr>
          <a:xfrm>
            <a:off x="894755" y="3931682"/>
            <a:ext cx="596503" cy="596503"/>
          </a:xfrm>
          <a:prstGeom prst="roundRect">
            <a:avLst>
              <a:gd name="adj" fmla="val 15327812"/>
            </a:avLst>
          </a:prstGeom>
          <a:solidFill>
            <a:srgbClr val="282824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8823" y="4095750"/>
            <a:ext cx="268367" cy="26836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94755" y="4702493"/>
            <a:ext cx="2485430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React.js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894755" y="5117783"/>
            <a:ext cx="6134457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Frontend library for building responsive user interfaces</a:t>
            </a:r>
            <a:endParaRPr lang="en-US" sz="1550" dirty="0"/>
          </a:p>
        </p:txBody>
      </p:sp>
      <p:sp>
        <p:nvSpPr>
          <p:cNvPr id="18" name="Shape 13"/>
          <p:cNvSpPr/>
          <p:nvPr/>
        </p:nvSpPr>
        <p:spPr>
          <a:xfrm>
            <a:off x="7402354" y="3732848"/>
            <a:ext cx="6532126" cy="1882259"/>
          </a:xfrm>
          <a:prstGeom prst="roundRect">
            <a:avLst>
              <a:gd name="adj" fmla="val 1585"/>
            </a:avLst>
          </a:prstGeom>
          <a:solidFill>
            <a:srgbClr val="E5DFD2"/>
          </a:solidFill>
          <a:ln/>
        </p:spPr>
      </p:sp>
      <p:sp>
        <p:nvSpPr>
          <p:cNvPr id="19" name="Shape 14"/>
          <p:cNvSpPr/>
          <p:nvPr/>
        </p:nvSpPr>
        <p:spPr>
          <a:xfrm>
            <a:off x="7601188" y="3931682"/>
            <a:ext cx="596503" cy="596503"/>
          </a:xfrm>
          <a:prstGeom prst="roundRect">
            <a:avLst>
              <a:gd name="adj" fmla="val 15327812"/>
            </a:avLst>
          </a:prstGeom>
          <a:solidFill>
            <a:srgbClr val="282824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65256" y="4095750"/>
            <a:ext cx="268367" cy="26836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01188" y="4702493"/>
            <a:ext cx="2485430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Node.js</a:t>
            </a:r>
            <a:endParaRPr lang="en-US" sz="1950" dirty="0"/>
          </a:p>
        </p:txBody>
      </p:sp>
      <p:sp>
        <p:nvSpPr>
          <p:cNvPr id="22" name="Text 16"/>
          <p:cNvSpPr/>
          <p:nvPr/>
        </p:nvSpPr>
        <p:spPr>
          <a:xfrm>
            <a:off x="7601188" y="5117783"/>
            <a:ext cx="6134457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Server runtime for executing JavaScript on the backend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95920" y="5876568"/>
            <a:ext cx="2982635" cy="372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Additional Tools</a:t>
            </a:r>
            <a:endParaRPr lang="en-US" sz="2300" dirty="0"/>
          </a:p>
        </p:txBody>
      </p:sp>
      <p:sp>
        <p:nvSpPr>
          <p:cNvPr id="24" name="Shape 18"/>
          <p:cNvSpPr/>
          <p:nvPr/>
        </p:nvSpPr>
        <p:spPr>
          <a:xfrm>
            <a:off x="695920" y="6616363"/>
            <a:ext cx="99417" cy="99417"/>
          </a:xfrm>
          <a:prstGeom prst="roundRect">
            <a:avLst>
              <a:gd name="adj" fmla="val 459881"/>
            </a:avLst>
          </a:prstGeom>
          <a:solidFill>
            <a:srgbClr val="282824"/>
          </a:solidFill>
          <a:ln/>
        </p:spPr>
      </p:sp>
      <p:sp>
        <p:nvSpPr>
          <p:cNvPr id="25" name="Text 19"/>
          <p:cNvSpPr/>
          <p:nvPr/>
        </p:nvSpPr>
        <p:spPr>
          <a:xfrm>
            <a:off x="969645" y="6510814"/>
            <a:ext cx="2743319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JWT (JSON Web Tokens)</a:t>
            </a:r>
            <a:endParaRPr lang="en-US" sz="1950" dirty="0"/>
          </a:p>
        </p:txBody>
      </p:sp>
      <p:sp>
        <p:nvSpPr>
          <p:cNvPr id="26" name="Text 20"/>
          <p:cNvSpPr/>
          <p:nvPr/>
        </p:nvSpPr>
        <p:spPr>
          <a:xfrm>
            <a:off x="969645" y="6926104"/>
            <a:ext cx="3993832" cy="596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Secure authentication and session management</a:t>
            </a:r>
            <a:endParaRPr lang="en-US" sz="1550" dirty="0"/>
          </a:p>
        </p:txBody>
      </p:sp>
      <p:sp>
        <p:nvSpPr>
          <p:cNvPr id="27" name="Shape 21"/>
          <p:cNvSpPr/>
          <p:nvPr/>
        </p:nvSpPr>
        <p:spPr>
          <a:xfrm>
            <a:off x="5181362" y="6616363"/>
            <a:ext cx="99417" cy="99417"/>
          </a:xfrm>
          <a:prstGeom prst="roundRect">
            <a:avLst>
              <a:gd name="adj" fmla="val 459881"/>
            </a:avLst>
          </a:prstGeom>
          <a:solidFill>
            <a:srgbClr val="282824"/>
          </a:solidFill>
          <a:ln/>
        </p:spPr>
      </p:sp>
      <p:sp>
        <p:nvSpPr>
          <p:cNvPr id="28" name="Text 22"/>
          <p:cNvSpPr/>
          <p:nvPr/>
        </p:nvSpPr>
        <p:spPr>
          <a:xfrm>
            <a:off x="5455087" y="6510814"/>
            <a:ext cx="2485430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Multer</a:t>
            </a:r>
            <a:endParaRPr lang="en-US" sz="1950" dirty="0"/>
          </a:p>
        </p:txBody>
      </p:sp>
      <p:sp>
        <p:nvSpPr>
          <p:cNvPr id="29" name="Text 23"/>
          <p:cNvSpPr/>
          <p:nvPr/>
        </p:nvSpPr>
        <p:spPr>
          <a:xfrm>
            <a:off x="5455087" y="6926104"/>
            <a:ext cx="3993832" cy="596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File upload middleware for handling project documents</a:t>
            </a:r>
            <a:endParaRPr lang="en-US" sz="1550" dirty="0"/>
          </a:p>
        </p:txBody>
      </p:sp>
      <p:sp>
        <p:nvSpPr>
          <p:cNvPr id="30" name="Shape 24"/>
          <p:cNvSpPr/>
          <p:nvPr/>
        </p:nvSpPr>
        <p:spPr>
          <a:xfrm>
            <a:off x="9666803" y="6616363"/>
            <a:ext cx="99417" cy="99417"/>
          </a:xfrm>
          <a:prstGeom prst="roundRect">
            <a:avLst>
              <a:gd name="adj" fmla="val 459881"/>
            </a:avLst>
          </a:prstGeom>
          <a:solidFill>
            <a:srgbClr val="282824"/>
          </a:solidFill>
          <a:ln/>
        </p:spPr>
      </p:sp>
      <p:sp>
        <p:nvSpPr>
          <p:cNvPr id="31" name="Text 25"/>
          <p:cNvSpPr/>
          <p:nvPr/>
        </p:nvSpPr>
        <p:spPr>
          <a:xfrm>
            <a:off x="9940528" y="6510814"/>
            <a:ext cx="2485430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REST APIs</a:t>
            </a:r>
            <a:endParaRPr lang="en-US" sz="1950" dirty="0"/>
          </a:p>
        </p:txBody>
      </p:sp>
      <p:sp>
        <p:nvSpPr>
          <p:cNvPr id="32" name="Text 26"/>
          <p:cNvSpPr/>
          <p:nvPr/>
        </p:nvSpPr>
        <p:spPr>
          <a:xfrm>
            <a:off x="9940528" y="6926104"/>
            <a:ext cx="3993832" cy="596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Stateless communication between frontend and backend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2996" y="534948"/>
            <a:ext cx="4494252" cy="561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System Architecture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856" y="1381601"/>
            <a:ext cx="12358568" cy="46857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90633" y="4159441"/>
            <a:ext cx="2790924" cy="348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MongoDB Database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1429380" y="4607539"/>
            <a:ext cx="2952177" cy="500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Stores documents, serves queries, persists data.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248700" y="3142304"/>
            <a:ext cx="2790924" cy="348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Express &amp; Node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0248700" y="3590403"/>
            <a:ext cx="2952177" cy="500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Processes requests, executes server logic, authenticates.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640249" y="2075551"/>
            <a:ext cx="2790924" cy="348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React Frontend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478996" y="2523650"/>
            <a:ext cx="2952177" cy="50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Renders UI, handles interactions, calls APIs.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112996" y="6369963"/>
            <a:ext cx="224706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Frontend Layer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112996" y="6793111"/>
            <a:ext cx="3841909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React.js components render dynamic UI, handle user interactions, and make API calls to backend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01151" y="6369963"/>
            <a:ext cx="224706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Backend Layer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5401151" y="6793111"/>
            <a:ext cx="3841909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Express.js routes process requests, Node.js server executes logic, JWT handles authentication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689306" y="6369963"/>
            <a:ext cx="2247067" cy="280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Database Layer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9689306" y="6793111"/>
            <a:ext cx="3841909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MongoDB stores user data, projects, files, and relationships in structured collections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8324" y="691991"/>
            <a:ext cx="4664393" cy="583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Key Features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878324" y="1861661"/>
            <a:ext cx="6360081" cy="1603177"/>
          </a:xfrm>
          <a:prstGeom prst="roundRect">
            <a:avLst>
              <a:gd name="adj" fmla="val 6844"/>
            </a:avLst>
          </a:prstGeom>
          <a:solidFill>
            <a:srgbClr val="EFECE6"/>
          </a:solidFill>
          <a:ln/>
        </p:spPr>
      </p:sp>
      <p:sp>
        <p:nvSpPr>
          <p:cNvPr id="4" name="Shape 2"/>
          <p:cNvSpPr/>
          <p:nvPr/>
        </p:nvSpPr>
        <p:spPr>
          <a:xfrm>
            <a:off x="878324" y="1838801"/>
            <a:ext cx="6360081" cy="91440"/>
          </a:xfrm>
          <a:prstGeom prst="roundRect">
            <a:avLst>
              <a:gd name="adj" fmla="val 30606"/>
            </a:avLst>
          </a:prstGeom>
          <a:solidFill>
            <a:srgbClr val="282824"/>
          </a:solidFill>
          <a:ln/>
        </p:spPr>
      </p:sp>
      <p:sp>
        <p:nvSpPr>
          <p:cNvPr id="5" name="Shape 3"/>
          <p:cNvSpPr/>
          <p:nvPr/>
        </p:nvSpPr>
        <p:spPr>
          <a:xfrm>
            <a:off x="3778508" y="1581864"/>
            <a:ext cx="559713" cy="559713"/>
          </a:xfrm>
          <a:prstGeom prst="roundRect">
            <a:avLst>
              <a:gd name="adj" fmla="val 163369"/>
            </a:avLst>
          </a:prstGeom>
          <a:solidFill>
            <a:srgbClr val="282824"/>
          </a:solidFill>
          <a:ln/>
        </p:spPr>
      </p:sp>
      <p:sp>
        <p:nvSpPr>
          <p:cNvPr id="6" name="Text 4"/>
          <p:cNvSpPr/>
          <p:nvPr/>
        </p:nvSpPr>
        <p:spPr>
          <a:xfrm>
            <a:off x="3946386" y="1721763"/>
            <a:ext cx="223838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87755" y="2328029"/>
            <a:ext cx="2332196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User Authentication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87755" y="2711529"/>
            <a:ext cx="5941219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Secure login and registration system with encrypted password storage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91757" y="1861661"/>
            <a:ext cx="6360200" cy="1603177"/>
          </a:xfrm>
          <a:prstGeom prst="roundRect">
            <a:avLst>
              <a:gd name="adj" fmla="val 6844"/>
            </a:avLst>
          </a:prstGeom>
          <a:solidFill>
            <a:srgbClr val="EFECE6"/>
          </a:solidFill>
          <a:ln/>
        </p:spPr>
      </p:sp>
      <p:sp>
        <p:nvSpPr>
          <p:cNvPr id="10" name="Shape 8"/>
          <p:cNvSpPr/>
          <p:nvPr/>
        </p:nvSpPr>
        <p:spPr>
          <a:xfrm>
            <a:off x="7391757" y="1838801"/>
            <a:ext cx="6360200" cy="91440"/>
          </a:xfrm>
          <a:prstGeom prst="roundRect">
            <a:avLst>
              <a:gd name="adj" fmla="val 30606"/>
            </a:avLst>
          </a:prstGeom>
          <a:solidFill>
            <a:srgbClr val="282824"/>
          </a:solidFill>
          <a:ln/>
        </p:spPr>
      </p:sp>
      <p:sp>
        <p:nvSpPr>
          <p:cNvPr id="11" name="Shape 9"/>
          <p:cNvSpPr/>
          <p:nvPr/>
        </p:nvSpPr>
        <p:spPr>
          <a:xfrm>
            <a:off x="10291941" y="1581864"/>
            <a:ext cx="559713" cy="559713"/>
          </a:xfrm>
          <a:prstGeom prst="roundRect">
            <a:avLst>
              <a:gd name="adj" fmla="val 163369"/>
            </a:avLst>
          </a:prstGeom>
          <a:solidFill>
            <a:srgbClr val="282824"/>
          </a:solidFill>
          <a:ln/>
        </p:spPr>
      </p:sp>
      <p:sp>
        <p:nvSpPr>
          <p:cNvPr id="12" name="Text 10"/>
          <p:cNvSpPr/>
          <p:nvPr/>
        </p:nvSpPr>
        <p:spPr>
          <a:xfrm>
            <a:off x="10459819" y="1721763"/>
            <a:ext cx="223838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2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601188" y="2328029"/>
            <a:ext cx="2798802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Role-Based Access Control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01188" y="2711529"/>
            <a:ext cx="5941338" cy="543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Different dashboards and permissions for Admin, Teacher, and Student roles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78324" y="3897987"/>
            <a:ext cx="6360081" cy="1603177"/>
          </a:xfrm>
          <a:prstGeom prst="roundRect">
            <a:avLst>
              <a:gd name="adj" fmla="val 6844"/>
            </a:avLst>
          </a:prstGeom>
          <a:solidFill>
            <a:srgbClr val="EFECE6"/>
          </a:solidFill>
          <a:ln/>
        </p:spPr>
      </p:sp>
      <p:sp>
        <p:nvSpPr>
          <p:cNvPr id="16" name="Shape 14"/>
          <p:cNvSpPr/>
          <p:nvPr/>
        </p:nvSpPr>
        <p:spPr>
          <a:xfrm>
            <a:off x="878324" y="3875127"/>
            <a:ext cx="6360081" cy="91440"/>
          </a:xfrm>
          <a:prstGeom prst="roundRect">
            <a:avLst>
              <a:gd name="adj" fmla="val 30606"/>
            </a:avLst>
          </a:prstGeom>
          <a:solidFill>
            <a:srgbClr val="282824"/>
          </a:solidFill>
          <a:ln/>
        </p:spPr>
      </p:sp>
      <p:sp>
        <p:nvSpPr>
          <p:cNvPr id="17" name="Shape 15"/>
          <p:cNvSpPr/>
          <p:nvPr/>
        </p:nvSpPr>
        <p:spPr>
          <a:xfrm>
            <a:off x="3778508" y="3618190"/>
            <a:ext cx="559713" cy="559713"/>
          </a:xfrm>
          <a:prstGeom prst="roundRect">
            <a:avLst>
              <a:gd name="adj" fmla="val 163369"/>
            </a:avLst>
          </a:prstGeom>
          <a:solidFill>
            <a:srgbClr val="282824"/>
          </a:solidFill>
          <a:ln/>
        </p:spPr>
      </p:sp>
      <p:sp>
        <p:nvSpPr>
          <p:cNvPr id="18" name="Text 16"/>
          <p:cNvSpPr/>
          <p:nvPr/>
        </p:nvSpPr>
        <p:spPr>
          <a:xfrm>
            <a:off x="3946386" y="3758089"/>
            <a:ext cx="223838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087755" y="4364355"/>
            <a:ext cx="2332196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Student Dashboard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87755" y="4747855"/>
            <a:ext cx="5941219" cy="271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Submit projects, track progress, view feedback, and manage documents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391757" y="3897987"/>
            <a:ext cx="6360200" cy="1603177"/>
          </a:xfrm>
          <a:prstGeom prst="roundRect">
            <a:avLst>
              <a:gd name="adj" fmla="val 6844"/>
            </a:avLst>
          </a:prstGeom>
          <a:solidFill>
            <a:srgbClr val="EFECE6"/>
          </a:solidFill>
          <a:ln/>
        </p:spPr>
      </p:sp>
      <p:sp>
        <p:nvSpPr>
          <p:cNvPr id="22" name="Shape 20"/>
          <p:cNvSpPr/>
          <p:nvPr/>
        </p:nvSpPr>
        <p:spPr>
          <a:xfrm>
            <a:off x="7391757" y="3875127"/>
            <a:ext cx="6360200" cy="91440"/>
          </a:xfrm>
          <a:prstGeom prst="roundRect">
            <a:avLst>
              <a:gd name="adj" fmla="val 30606"/>
            </a:avLst>
          </a:prstGeom>
          <a:solidFill>
            <a:srgbClr val="282824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91941" y="3618190"/>
            <a:ext cx="559713" cy="559713"/>
          </a:xfrm>
          <a:prstGeom prst="roundRect">
            <a:avLst>
              <a:gd name="adj" fmla="val 163369"/>
            </a:avLst>
          </a:prstGeom>
          <a:solidFill>
            <a:srgbClr val="282824"/>
          </a:solidFill>
          <a:ln/>
        </p:spPr>
      </p:sp>
      <p:sp>
        <p:nvSpPr>
          <p:cNvPr id="24" name="Text 22"/>
          <p:cNvSpPr/>
          <p:nvPr/>
        </p:nvSpPr>
        <p:spPr>
          <a:xfrm>
            <a:off x="10459819" y="3758089"/>
            <a:ext cx="223838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4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7601188" y="4364355"/>
            <a:ext cx="2332196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Teacher Dashboard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601188" y="4747855"/>
            <a:ext cx="5941338" cy="543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submissions, provide feedback, approve projects, and monitor student progress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878324" y="5934313"/>
            <a:ext cx="6360081" cy="1603177"/>
          </a:xfrm>
          <a:prstGeom prst="roundRect">
            <a:avLst>
              <a:gd name="adj" fmla="val 6844"/>
            </a:avLst>
          </a:prstGeom>
          <a:solidFill>
            <a:srgbClr val="EFECE6"/>
          </a:solidFill>
          <a:ln/>
        </p:spPr>
      </p:sp>
      <p:sp>
        <p:nvSpPr>
          <p:cNvPr id="28" name="Shape 26"/>
          <p:cNvSpPr/>
          <p:nvPr/>
        </p:nvSpPr>
        <p:spPr>
          <a:xfrm>
            <a:off x="878324" y="5911453"/>
            <a:ext cx="6360081" cy="91440"/>
          </a:xfrm>
          <a:prstGeom prst="roundRect">
            <a:avLst>
              <a:gd name="adj" fmla="val 30606"/>
            </a:avLst>
          </a:prstGeom>
          <a:solidFill>
            <a:srgbClr val="282824"/>
          </a:solidFill>
          <a:ln/>
        </p:spPr>
      </p:sp>
      <p:sp>
        <p:nvSpPr>
          <p:cNvPr id="29" name="Shape 27"/>
          <p:cNvSpPr/>
          <p:nvPr/>
        </p:nvSpPr>
        <p:spPr>
          <a:xfrm>
            <a:off x="3778508" y="5654516"/>
            <a:ext cx="559713" cy="559713"/>
          </a:xfrm>
          <a:prstGeom prst="roundRect">
            <a:avLst>
              <a:gd name="adj" fmla="val 163369"/>
            </a:avLst>
          </a:prstGeom>
          <a:solidFill>
            <a:srgbClr val="282824"/>
          </a:solidFill>
          <a:ln/>
        </p:spPr>
      </p:sp>
      <p:sp>
        <p:nvSpPr>
          <p:cNvPr id="30" name="Text 28"/>
          <p:cNvSpPr/>
          <p:nvPr/>
        </p:nvSpPr>
        <p:spPr>
          <a:xfrm>
            <a:off x="3946386" y="5794415"/>
            <a:ext cx="223838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5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1087755" y="6400681"/>
            <a:ext cx="2332196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Admin Panel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87755" y="6784181"/>
            <a:ext cx="5941219" cy="543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Manage users, approve projects, configure system settings, and view analytics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7391757" y="5934313"/>
            <a:ext cx="6360200" cy="1603177"/>
          </a:xfrm>
          <a:prstGeom prst="roundRect">
            <a:avLst>
              <a:gd name="adj" fmla="val 6844"/>
            </a:avLst>
          </a:prstGeom>
          <a:solidFill>
            <a:srgbClr val="EFECE6"/>
          </a:solidFill>
          <a:ln/>
        </p:spPr>
      </p:sp>
      <p:sp>
        <p:nvSpPr>
          <p:cNvPr id="34" name="Shape 32"/>
          <p:cNvSpPr/>
          <p:nvPr/>
        </p:nvSpPr>
        <p:spPr>
          <a:xfrm>
            <a:off x="7391757" y="5911453"/>
            <a:ext cx="6360200" cy="91440"/>
          </a:xfrm>
          <a:prstGeom prst="roundRect">
            <a:avLst>
              <a:gd name="adj" fmla="val 30606"/>
            </a:avLst>
          </a:prstGeom>
          <a:solidFill>
            <a:srgbClr val="282824"/>
          </a:solidFill>
          <a:ln/>
        </p:spPr>
      </p:sp>
      <p:sp>
        <p:nvSpPr>
          <p:cNvPr id="35" name="Shape 33"/>
          <p:cNvSpPr/>
          <p:nvPr/>
        </p:nvSpPr>
        <p:spPr>
          <a:xfrm>
            <a:off x="10291941" y="5654516"/>
            <a:ext cx="559713" cy="559713"/>
          </a:xfrm>
          <a:prstGeom prst="roundRect">
            <a:avLst>
              <a:gd name="adj" fmla="val 163369"/>
            </a:avLst>
          </a:prstGeom>
          <a:solidFill>
            <a:srgbClr val="282824"/>
          </a:solidFill>
          <a:ln/>
        </p:spPr>
      </p:sp>
      <p:sp>
        <p:nvSpPr>
          <p:cNvPr id="36" name="Text 34"/>
          <p:cNvSpPr/>
          <p:nvPr/>
        </p:nvSpPr>
        <p:spPr>
          <a:xfrm>
            <a:off x="10459819" y="5794415"/>
            <a:ext cx="223838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6</a:t>
            </a:r>
            <a:endParaRPr lang="en-US" sz="1750" dirty="0"/>
          </a:p>
        </p:txBody>
      </p:sp>
      <p:sp>
        <p:nvSpPr>
          <p:cNvPr id="37" name="Text 35"/>
          <p:cNvSpPr/>
          <p:nvPr/>
        </p:nvSpPr>
        <p:spPr>
          <a:xfrm>
            <a:off x="7601188" y="6400681"/>
            <a:ext cx="2332196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File Management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601188" y="6784181"/>
            <a:ext cx="5941338" cy="543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Upload, store, retrieve, and version control project documents and resources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5532" y="323731"/>
            <a:ext cx="3897035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Methodology &amp; Working Flow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305532" y="710684"/>
            <a:ext cx="213645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Development Methodology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5532" y="1017865"/>
            <a:ext cx="581025" cy="6972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946088" y="1134070"/>
            <a:ext cx="145268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Requirement Analysis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946088" y="1351359"/>
            <a:ext cx="7378660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Gather system requirements and user needs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5532" y="1715095"/>
            <a:ext cx="581025" cy="6972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46088" y="1831300"/>
            <a:ext cx="145268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946088" y="2048589"/>
            <a:ext cx="7378660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Database schema and UI/UX planning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5532" y="2412325"/>
            <a:ext cx="581025" cy="69723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946088" y="2528530"/>
            <a:ext cx="145268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3946088" y="2745819"/>
            <a:ext cx="7378660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Frontend and backend implementation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5532" y="3109555"/>
            <a:ext cx="581025" cy="69723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946088" y="3225760"/>
            <a:ext cx="145268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Testing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3946088" y="3443049"/>
            <a:ext cx="7378660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Functional and integration testing</a:t>
            </a:r>
            <a:endParaRPr lang="en-US" sz="9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5532" y="3806785"/>
            <a:ext cx="581025" cy="69723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946088" y="3922990"/>
            <a:ext cx="145268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3946088" y="4140279"/>
            <a:ext cx="7378660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9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Production environment setup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3305532" y="4593312"/>
            <a:ext cx="174331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System Working Flow</a:t>
            </a:r>
            <a:endParaRPr lang="en-US" sz="13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82102" y="4900493"/>
            <a:ext cx="7665958" cy="3005257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665621" y="5047877"/>
            <a:ext cx="1403322" cy="225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Login</a:t>
            </a:r>
            <a:endParaRPr lang="en-US" sz="1400" dirty="0"/>
          </a:p>
        </p:txBody>
      </p:sp>
      <p:sp>
        <p:nvSpPr>
          <p:cNvPr id="22" name="Text 14"/>
          <p:cNvSpPr/>
          <p:nvPr/>
        </p:nvSpPr>
        <p:spPr>
          <a:xfrm>
            <a:off x="9561080" y="5047877"/>
            <a:ext cx="1403322" cy="225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9561080" y="7532761"/>
            <a:ext cx="1403322" cy="225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Actions</a:t>
            </a:r>
            <a:endParaRPr lang="en-US" sz="1400" dirty="0"/>
          </a:p>
        </p:txBody>
      </p:sp>
      <p:sp>
        <p:nvSpPr>
          <p:cNvPr id="24" name="Text 16"/>
          <p:cNvSpPr/>
          <p:nvPr/>
        </p:nvSpPr>
        <p:spPr>
          <a:xfrm>
            <a:off x="3665621" y="7532761"/>
            <a:ext cx="1403322" cy="2255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Database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8299" y="1095732"/>
            <a:ext cx="8594527" cy="605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Advantages, Limitations &amp; Future Scope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78299" y="2115145"/>
            <a:ext cx="2907030" cy="363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Advantages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678299" y="2664738"/>
            <a:ext cx="436007" cy="436007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</p:sp>
      <p:sp>
        <p:nvSpPr>
          <p:cNvPr id="5" name="Text 3"/>
          <p:cNvSpPr/>
          <p:nvPr/>
        </p:nvSpPr>
        <p:spPr>
          <a:xfrm>
            <a:off x="1279803" y="2731294"/>
            <a:ext cx="2422565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Easy Project Tracking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279803" y="3199567"/>
            <a:ext cx="5799058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Real-time visibility into all project stages and milestones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78299" y="3818215"/>
            <a:ext cx="436007" cy="436007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</p:sp>
      <p:sp>
        <p:nvSpPr>
          <p:cNvPr id="8" name="Text 6"/>
          <p:cNvSpPr/>
          <p:nvPr/>
        </p:nvSpPr>
        <p:spPr>
          <a:xfrm>
            <a:off x="1279803" y="3884771"/>
            <a:ext cx="2814876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Improved Communication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279803" y="4353044"/>
            <a:ext cx="5799058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Streamlined feedback and notifications between stakeholders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78299" y="4971693"/>
            <a:ext cx="436007" cy="436007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</p:sp>
      <p:sp>
        <p:nvSpPr>
          <p:cNvPr id="11" name="Text 9"/>
          <p:cNvSpPr/>
          <p:nvPr/>
        </p:nvSpPr>
        <p:spPr>
          <a:xfrm>
            <a:off x="1279803" y="5038249"/>
            <a:ext cx="2422565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Centralized System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279803" y="5506522"/>
            <a:ext cx="5799058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Single source of truth for all project-related information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78299" y="6125170"/>
            <a:ext cx="436007" cy="436007"/>
          </a:xfrm>
          <a:prstGeom prst="roundRect">
            <a:avLst>
              <a:gd name="adj" fmla="val 6668"/>
            </a:avLst>
          </a:prstGeom>
          <a:solidFill>
            <a:srgbClr val="E5DFD2"/>
          </a:solidFill>
          <a:ln/>
        </p:spPr>
      </p:sp>
      <p:sp>
        <p:nvSpPr>
          <p:cNvPr id="14" name="Text 12"/>
          <p:cNvSpPr/>
          <p:nvPr/>
        </p:nvSpPr>
        <p:spPr>
          <a:xfrm>
            <a:off x="1279803" y="6191726"/>
            <a:ext cx="2798683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Secure Data Management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79803" y="6659999"/>
            <a:ext cx="5799058" cy="287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Encrypted storage and role-based access control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559159" y="2115145"/>
            <a:ext cx="2907030" cy="363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Limitations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7559159" y="2644021"/>
            <a:ext cx="6400562" cy="978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Requires stable internet connection for all operations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Initial learning curve for new users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Limited offline functionality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559159" y="3787854"/>
            <a:ext cx="2907030" cy="363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Future Enhancements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7559159" y="4316730"/>
            <a:ext cx="6400562" cy="1323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AI-based project recommendations and matching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Mobile application for iOS and Android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Integration with college ERP systems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Advanced analytics and reporting dashboards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5341"/>
            <a:ext cx="62954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Conclusion &amp; References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133951" y="2242899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MERN stack-based Project Management System addresses critical challenges in academic project handling by providing a centralized, secure, and transparent platform that improves collaboration between students and faculty.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1987748"/>
            <a:ext cx="30480" cy="1236107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3479006"/>
            <a:ext cx="4196358" cy="2093714"/>
          </a:xfrm>
          <a:prstGeom prst="roundRect">
            <a:avLst>
              <a:gd name="adj" fmla="val 1625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084" y="37363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Key Impact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084" y="4226719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Streamlined project tracking, reduced paperwork, and enhanced communication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479006"/>
            <a:ext cx="4196358" cy="2093714"/>
          </a:xfrm>
          <a:prstGeom prst="roundRect">
            <a:avLst>
              <a:gd name="adj" fmla="val 1625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74256" y="3736300"/>
            <a:ext cx="29201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Technical Achievement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74256" y="4226719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Full-stack development with modern web technologies and secure architecture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479006"/>
            <a:ext cx="4196358" cy="2093714"/>
          </a:xfrm>
          <a:prstGeom prst="roundRect">
            <a:avLst>
              <a:gd name="adj" fmla="val 1625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97427" y="37363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Future Ready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897427" y="4226719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Scalable design ready for mobile apps and AI enhancements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93790" y="591288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References</a:t>
            </a:r>
            <a:endParaRPr lang="en-US" sz="2650" dirty="0"/>
          </a:p>
        </p:txBody>
      </p:sp>
      <p:sp>
        <p:nvSpPr>
          <p:cNvPr id="15" name="Text 13"/>
          <p:cNvSpPr/>
          <p:nvPr/>
        </p:nvSpPr>
        <p:spPr>
          <a:xfrm>
            <a:off x="793790" y="667833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MERN Stack Documentation | MongoDB Official Guides | Express.js API Reference | React Developer Resources | Node.js Documentation | JWT Security Best Practices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701</Words>
  <Application>Microsoft Office PowerPoint</Application>
  <PresentationFormat>Custom</PresentationFormat>
  <Paragraphs>140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Lato</vt:lpstr>
      <vt:lpstr>Lato Bold</vt:lpstr>
      <vt:lpstr>Franklin Gothic Medium</vt:lpstr>
      <vt:lpstr>Lato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mukool .</dc:creator>
  <cp:lastModifiedBy>mukool .</cp:lastModifiedBy>
  <cp:revision>5</cp:revision>
  <dcterms:created xsi:type="dcterms:W3CDTF">2026-03-20T15:32:20Z</dcterms:created>
  <dcterms:modified xsi:type="dcterms:W3CDTF">2026-03-23T04:49:05Z</dcterms:modified>
</cp:coreProperties>
</file>